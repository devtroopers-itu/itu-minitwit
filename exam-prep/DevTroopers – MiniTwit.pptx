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e542544e60_4_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g3e542544e60_4_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g3e542544e60_4_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e542544e60_4_1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g3e542544e60_4_1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g3e542544e60_4_1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e542544e60_4_2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g3e542544e60_4_2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g3e542544e60_4_2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e542544e60_4_3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g3e542544e60_4_3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g3e542544e60_4_3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e542544e60_4_4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g3e542544e60_4_4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g3e542544e60_4_4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ed2087c939_3_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g3ed2087c939_3_0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g3ed2087c939_3_0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e542544e60_4_5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g3e542544e60_4_5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g3e542544e60_4_5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ed2087c939_4_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g3ed2087c939_4_0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g3ed2087c939_4_0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e542544e60_4_6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g3e542544e60_4_6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g3e542544e60_4_6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e542544e60_4_7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g3e542544e60_4_7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g3e542544e60_4_7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e542544e60_4_8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g3e542544e60_4_8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3e542544e60_4_8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A9396"/>
          </a:solidFill>
          <a:ln cap="flat" cmpd="sng" w="12700">
            <a:solidFill>
              <a:srgbClr val="0A93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5"/>
          <p:cNvSpPr/>
          <p:nvPr/>
        </p:nvSpPr>
        <p:spPr>
          <a:xfrm>
            <a:off x="457200" y="137160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9396"/>
              </a:buClr>
              <a:buSzPts val="4000"/>
              <a:buFont typeface="Calibri"/>
              <a:buNone/>
            </a:pPr>
            <a:r>
              <a:rPr b="1" i="0" lang="da" sz="4000" u="none" cap="none" strike="noStrike">
                <a:solidFill>
                  <a:srgbClr val="0A9396"/>
                </a:solidFill>
                <a:latin typeface="Calibri"/>
                <a:ea typeface="Calibri"/>
                <a:cs typeface="Calibri"/>
                <a:sym typeface="Calibri"/>
              </a:rPr>
              <a:t>DevTroopers – MiniTwit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5"/>
          <p:cNvSpPr/>
          <p:nvPr/>
        </p:nvSpPr>
        <p:spPr>
          <a:xfrm>
            <a:off x="457200" y="23774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0" i="0" lang="da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DevOps Exam Presentation · </a:t>
            </a:r>
            <a:r>
              <a:rPr lang="da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da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TU Spring 2026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5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0" i="0" lang="da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Peter J · Håkon · Leo · Apoorva </a:t>
            </a:r>
            <a:r>
              <a:rPr lang="da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· </a:t>
            </a:r>
            <a:r>
              <a:rPr lang="da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Peter K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A9396"/>
          </a:solidFill>
          <a:ln cap="flat" cmpd="sng" w="12700">
            <a:solidFill>
              <a:srgbClr val="0A93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6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6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9396"/>
              </a:buClr>
              <a:buSzPts val="1200"/>
              <a:buFont typeface="Calibri"/>
              <a:buNone/>
            </a:pPr>
            <a:r>
              <a:rPr b="1" i="0" lang="da" sz="1200" u="none" cap="none" strike="noStrike">
                <a:solidFill>
                  <a:srgbClr val="0A9396"/>
                </a:solidFill>
                <a:latin typeface="Calibri"/>
                <a:ea typeface="Calibri"/>
                <a:cs typeface="Calibri"/>
                <a:sym typeface="Calibri"/>
              </a:rPr>
              <a:t>Håkon </a:t>
            </a:r>
            <a:r>
              <a:rPr b="1" lang="da" sz="1200">
                <a:solidFill>
                  <a:srgbClr val="0A9396"/>
                </a:solidFill>
                <a:latin typeface="Calibri"/>
                <a:ea typeface="Calibri"/>
                <a:cs typeface="Calibri"/>
                <a:sym typeface="Calibri"/>
              </a:rPr>
              <a:t>· </a:t>
            </a:r>
            <a:r>
              <a:rPr b="1" lang="da" sz="1200">
                <a:solidFill>
                  <a:srgbClr val="0A9396"/>
                </a:solidFill>
                <a:latin typeface="Calibri"/>
                <a:ea typeface="Calibri"/>
                <a:cs typeface="Calibri"/>
                <a:sym typeface="Calibri"/>
              </a:rPr>
              <a:t>Peter K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6"/>
          <p:cNvSpPr/>
          <p:nvPr/>
        </p:nvSpPr>
        <p:spPr>
          <a:xfrm>
            <a:off x="365760" y="914400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800"/>
              <a:buFont typeface="Calibri"/>
              <a:buNone/>
            </a:pPr>
            <a:r>
              <a:rPr b="1" i="0" lang="da" sz="28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System: Design &amp; Architecture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6"/>
          <p:cNvSpPr/>
          <p:nvPr/>
        </p:nvSpPr>
        <p:spPr>
          <a:xfrm>
            <a:off x="365760" y="1737360"/>
            <a:ext cx="8412480" cy="30175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6"/>
          <p:cNvSpPr/>
          <p:nvPr/>
        </p:nvSpPr>
        <p:spPr>
          <a:xfrm>
            <a:off x="365760" y="1737360"/>
            <a:ext cx="841248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A9396"/>
          </a:solidFill>
          <a:ln cap="flat" cmpd="sng" w="12700">
            <a:solidFill>
              <a:srgbClr val="0A93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7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7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9396"/>
              </a:buClr>
              <a:buSzPts val="1200"/>
              <a:buFont typeface="Calibri"/>
              <a:buNone/>
            </a:pPr>
            <a:r>
              <a:rPr b="1" i="0" lang="da" sz="1200" u="none" cap="none" strike="noStrike">
                <a:solidFill>
                  <a:srgbClr val="0A9396"/>
                </a:solidFill>
                <a:latin typeface="Calibri"/>
                <a:ea typeface="Calibri"/>
                <a:cs typeface="Calibri"/>
                <a:sym typeface="Calibri"/>
              </a:rPr>
              <a:t>Peter 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365760" y="914400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800"/>
              <a:buFont typeface="Calibri"/>
              <a:buNone/>
            </a:pPr>
            <a:r>
              <a:rPr b="1" i="0" lang="da" sz="28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System: Tech Stack &amp; Dependencies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7"/>
          <p:cNvSpPr/>
          <p:nvPr/>
        </p:nvSpPr>
        <p:spPr>
          <a:xfrm>
            <a:off x="365760" y="1737360"/>
            <a:ext cx="8412480" cy="30175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7"/>
          <p:cNvSpPr/>
          <p:nvPr/>
        </p:nvSpPr>
        <p:spPr>
          <a:xfrm>
            <a:off x="365760" y="1737360"/>
            <a:ext cx="841248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A9396"/>
          </a:solidFill>
          <a:ln cap="flat" cmpd="sng" w="12700">
            <a:solidFill>
              <a:srgbClr val="0A93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8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8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9396"/>
              </a:buClr>
              <a:buSzPts val="1200"/>
              <a:buFont typeface="Calibri"/>
              <a:buNone/>
            </a:pPr>
            <a:r>
              <a:rPr b="1" i="0" lang="da" sz="1200" u="none" cap="none" strike="noStrike">
                <a:solidFill>
                  <a:srgbClr val="0A9396"/>
                </a:solidFill>
                <a:latin typeface="Calibri"/>
                <a:ea typeface="Calibri"/>
                <a:cs typeface="Calibri"/>
                <a:sym typeface="Calibri"/>
              </a:rPr>
              <a:t>Peter J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8"/>
          <p:cNvSpPr/>
          <p:nvPr/>
        </p:nvSpPr>
        <p:spPr>
          <a:xfrm>
            <a:off x="365760" y="914400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800"/>
              <a:buFont typeface="Calibri"/>
              <a:buNone/>
            </a:pPr>
            <a:r>
              <a:rPr b="1" i="0" lang="da" sz="28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System: Current State &amp; Code Quality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8"/>
          <p:cNvSpPr/>
          <p:nvPr/>
        </p:nvSpPr>
        <p:spPr>
          <a:xfrm>
            <a:off x="365760" y="1737360"/>
            <a:ext cx="8412480" cy="30175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8"/>
          <p:cNvSpPr/>
          <p:nvPr/>
        </p:nvSpPr>
        <p:spPr>
          <a:xfrm>
            <a:off x="365760" y="1737360"/>
            <a:ext cx="841248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A9396"/>
          </a:solidFill>
          <a:ln cap="flat" cmpd="sng" w="12700">
            <a:solidFill>
              <a:srgbClr val="0A93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9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9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9396"/>
              </a:buClr>
              <a:buSzPts val="1200"/>
              <a:buFont typeface="Calibri"/>
              <a:buNone/>
            </a:pPr>
            <a:r>
              <a:rPr b="1" i="0" lang="da" sz="1200" u="none" cap="none" strike="noStrike">
                <a:solidFill>
                  <a:srgbClr val="0A9396"/>
                </a:solidFill>
                <a:latin typeface="Calibri"/>
                <a:ea typeface="Calibri"/>
                <a:cs typeface="Calibri"/>
                <a:sym typeface="Calibri"/>
              </a:rPr>
              <a:t>Håkon · Apoorva </a:t>
            </a:r>
            <a:r>
              <a:rPr b="1" lang="da" sz="1200">
                <a:solidFill>
                  <a:srgbClr val="0A9396"/>
                </a:solidFill>
                <a:latin typeface="Calibri"/>
                <a:ea typeface="Calibri"/>
                <a:cs typeface="Calibri"/>
                <a:sym typeface="Calibri"/>
              </a:rPr>
              <a:t>· </a:t>
            </a:r>
            <a:r>
              <a:rPr b="1" lang="da" sz="1200">
                <a:solidFill>
                  <a:srgbClr val="0A9396"/>
                </a:solidFill>
                <a:latin typeface="Calibri"/>
                <a:ea typeface="Calibri"/>
                <a:cs typeface="Calibri"/>
                <a:sym typeface="Calibri"/>
              </a:rPr>
              <a:t>Peter K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9"/>
          <p:cNvSpPr/>
          <p:nvPr/>
        </p:nvSpPr>
        <p:spPr>
          <a:xfrm>
            <a:off x="365760" y="914400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800"/>
              <a:buFont typeface="Calibri"/>
              <a:buNone/>
            </a:pPr>
            <a:r>
              <a:rPr b="1" i="0" lang="da" sz="28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Process: CI/CD Pipeline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9"/>
          <p:cNvSpPr/>
          <p:nvPr/>
        </p:nvSpPr>
        <p:spPr>
          <a:xfrm>
            <a:off x="365760" y="1737360"/>
            <a:ext cx="8412480" cy="30175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9"/>
          <p:cNvSpPr/>
          <p:nvPr/>
        </p:nvSpPr>
        <p:spPr>
          <a:xfrm>
            <a:off x="365760" y="1737360"/>
            <a:ext cx="841248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/>
          <p:nvPr/>
        </p:nvSpPr>
        <p:spPr>
          <a:xfrm>
            <a:off x="0" y="0"/>
            <a:ext cx="137100" cy="5143500"/>
          </a:xfrm>
          <a:prstGeom prst="rect">
            <a:avLst/>
          </a:prstGeom>
          <a:solidFill>
            <a:srgbClr val="0A9396"/>
          </a:solidFill>
          <a:ln cap="flat" cmpd="sng" w="12700">
            <a:solidFill>
              <a:srgbClr val="0A93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0"/>
          <p:cNvSpPr/>
          <p:nvPr/>
        </p:nvSpPr>
        <p:spPr>
          <a:xfrm>
            <a:off x="0" y="0"/>
            <a:ext cx="9144000" cy="5028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0"/>
          <p:cNvSpPr/>
          <p:nvPr/>
        </p:nvSpPr>
        <p:spPr>
          <a:xfrm>
            <a:off x="274320" y="0"/>
            <a:ext cx="85953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9396"/>
              </a:buClr>
              <a:buSzPts val="1200"/>
              <a:buFont typeface="Calibri"/>
              <a:buNone/>
            </a:pPr>
            <a:r>
              <a:rPr b="1" lang="da" sz="1200">
                <a:solidFill>
                  <a:srgbClr val="0A9396"/>
                </a:solidFill>
                <a:latin typeface="Calibri"/>
                <a:ea typeface="Calibri"/>
                <a:cs typeface="Calibri"/>
                <a:sym typeface="Calibri"/>
              </a:rPr>
              <a:t>Peter K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20"/>
          <p:cNvSpPr/>
          <p:nvPr/>
        </p:nvSpPr>
        <p:spPr>
          <a:xfrm>
            <a:off x="365760" y="914400"/>
            <a:ext cx="8412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800"/>
              <a:buFont typeface="Calibri"/>
              <a:buNone/>
            </a:pPr>
            <a:r>
              <a:rPr b="1" lang="da" sz="28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Dockerfiles and yml stuff?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20"/>
          <p:cNvSpPr/>
          <p:nvPr/>
        </p:nvSpPr>
        <p:spPr>
          <a:xfrm>
            <a:off x="365760" y="1737360"/>
            <a:ext cx="8412600" cy="3017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20"/>
          <p:cNvSpPr/>
          <p:nvPr/>
        </p:nvSpPr>
        <p:spPr>
          <a:xfrm>
            <a:off x="365760" y="1737360"/>
            <a:ext cx="8412600" cy="301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A9396"/>
          </a:solidFill>
          <a:ln cap="flat" cmpd="sng" w="12700">
            <a:solidFill>
              <a:srgbClr val="0A93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2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1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9396"/>
              </a:buClr>
              <a:buSzPts val="1200"/>
              <a:buFont typeface="Calibri"/>
              <a:buNone/>
            </a:pPr>
            <a:r>
              <a:rPr b="1" i="0" lang="da" sz="1200" u="none" cap="none" strike="noStrike">
                <a:solidFill>
                  <a:srgbClr val="0A9396"/>
                </a:solidFill>
                <a:latin typeface="Calibri"/>
                <a:ea typeface="Calibri"/>
                <a:cs typeface="Calibri"/>
                <a:sym typeface="Calibri"/>
              </a:rPr>
              <a:t>Peter J · Apoorva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21"/>
          <p:cNvSpPr/>
          <p:nvPr/>
        </p:nvSpPr>
        <p:spPr>
          <a:xfrm>
            <a:off x="365760" y="914400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800"/>
              <a:buFont typeface="Calibri"/>
              <a:buNone/>
            </a:pPr>
            <a:r>
              <a:rPr b="1" i="0" lang="da" sz="28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Process: Monitoring</a:t>
            </a:r>
            <a:r>
              <a:rPr b="1" lang="da" sz="28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, Logging, </a:t>
            </a:r>
            <a:r>
              <a:rPr b="1" i="0" lang="da" sz="28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Observability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21"/>
          <p:cNvSpPr/>
          <p:nvPr/>
        </p:nvSpPr>
        <p:spPr>
          <a:xfrm>
            <a:off x="365760" y="1737360"/>
            <a:ext cx="8412480" cy="30175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1"/>
          <p:cNvSpPr/>
          <p:nvPr/>
        </p:nvSpPr>
        <p:spPr>
          <a:xfrm>
            <a:off x="365760" y="1737360"/>
            <a:ext cx="8412480" cy="301752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da" sz="8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Availability</a:t>
            </a:r>
            <a:endParaRPr b="1" sz="800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Char char="●"/>
            </a:pPr>
            <a:r>
              <a:rPr lang="da" sz="8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What % of the last 24 hours the app was up</a:t>
            </a:r>
            <a:endParaRPr sz="800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Char char="●"/>
            </a:pPr>
            <a:r>
              <a:rPr lang="da" sz="8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A visual timeline showing when each replica was UP or DOWN</a:t>
            </a:r>
            <a:endParaRPr sz="800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Char char="●"/>
            </a:pPr>
            <a:r>
              <a:rPr lang="da" sz="8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Current live status (up/down) averaged across all replicas</a:t>
            </a:r>
            <a:endParaRPr sz="800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da" sz="8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Traffic</a:t>
            </a:r>
            <a:endParaRPr b="1" sz="800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Char char="●"/>
            </a:pPr>
            <a:r>
              <a:rPr lang="da" sz="8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How many HTTP responses are being sent over time, broken down by route, method, and status code</a:t>
            </a:r>
            <a:endParaRPr sz="800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Char char="●"/>
            </a:pPr>
            <a:r>
              <a:rPr lang="da" sz="8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Which routes are getting the most requests (requests per route rate)</a:t>
            </a:r>
            <a:endParaRPr sz="800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da" sz="8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Performance</a:t>
            </a:r>
            <a:endParaRPr b="1" sz="800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Char char="●"/>
            </a:pPr>
            <a:r>
              <a:rPr lang="da" sz="8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How fast your app is responding — specifically the p95 response time per route (95% of requests finish within X seconds)</a:t>
            </a:r>
            <a:endParaRPr sz="800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da" sz="8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Errors</a:t>
            </a:r>
            <a:endParaRPr b="1" sz="800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Char char="●"/>
            </a:pPr>
            <a:r>
              <a:rPr lang="da" sz="8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Rate of 4xx and 5xx responses over time per route — so you can spot when things start failing and on which endpoint</a:t>
            </a:r>
            <a:endParaRPr sz="800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a" sz="8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Together they answer the four key questions in production: </a:t>
            </a:r>
            <a:r>
              <a:rPr b="1" lang="da" sz="8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Is it up? How busy is it? How fast is it? Is it throwing errors?</a:t>
            </a:r>
            <a:endParaRPr b="1" sz="800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Clr>
                <a:srgbClr val="CBD5E1"/>
              </a:buClr>
              <a:buSzPts val="1400"/>
              <a:buFont typeface="Calibri"/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2"/>
          <p:cNvSpPr/>
          <p:nvPr/>
        </p:nvSpPr>
        <p:spPr>
          <a:xfrm>
            <a:off x="0" y="0"/>
            <a:ext cx="137100" cy="5143500"/>
          </a:xfrm>
          <a:prstGeom prst="rect">
            <a:avLst/>
          </a:prstGeom>
          <a:solidFill>
            <a:srgbClr val="0A9396"/>
          </a:solidFill>
          <a:ln cap="flat" cmpd="sng" w="12700">
            <a:solidFill>
              <a:srgbClr val="0A93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2"/>
          <p:cNvSpPr/>
          <p:nvPr/>
        </p:nvSpPr>
        <p:spPr>
          <a:xfrm>
            <a:off x="0" y="0"/>
            <a:ext cx="9144000" cy="5028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2"/>
          <p:cNvSpPr/>
          <p:nvPr/>
        </p:nvSpPr>
        <p:spPr>
          <a:xfrm>
            <a:off x="274320" y="0"/>
            <a:ext cx="85953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9396"/>
              </a:buClr>
              <a:buSzPts val="1200"/>
              <a:buFont typeface="Calibri"/>
              <a:buNone/>
            </a:pPr>
            <a:r>
              <a:rPr b="1" i="0" lang="da" sz="1200" u="none" cap="none" strike="noStrike">
                <a:solidFill>
                  <a:srgbClr val="0A9396"/>
                </a:solidFill>
                <a:latin typeface="Calibri"/>
                <a:ea typeface="Calibri"/>
                <a:cs typeface="Calibri"/>
                <a:sym typeface="Calibri"/>
              </a:rPr>
              <a:t>Peter J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2"/>
          <p:cNvSpPr/>
          <p:nvPr/>
        </p:nvSpPr>
        <p:spPr>
          <a:xfrm>
            <a:off x="365760" y="914400"/>
            <a:ext cx="8412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800"/>
              <a:buFont typeface="Calibri"/>
              <a:buNone/>
            </a:pPr>
            <a:r>
              <a:rPr b="1" i="0" lang="da" sz="28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Process: </a:t>
            </a:r>
            <a:r>
              <a:rPr b="1" lang="da" sz="28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Security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2"/>
          <p:cNvSpPr/>
          <p:nvPr/>
        </p:nvSpPr>
        <p:spPr>
          <a:xfrm>
            <a:off x="365760" y="1737360"/>
            <a:ext cx="8412600" cy="3017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2"/>
          <p:cNvSpPr/>
          <p:nvPr/>
        </p:nvSpPr>
        <p:spPr>
          <a:xfrm>
            <a:off x="365760" y="1737360"/>
            <a:ext cx="8412600" cy="301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3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A9396"/>
          </a:solidFill>
          <a:ln cap="flat" cmpd="sng" w="12700">
            <a:solidFill>
              <a:srgbClr val="0A93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3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3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9396"/>
              </a:buClr>
              <a:buSzPts val="1200"/>
              <a:buFont typeface="Calibri"/>
              <a:buNone/>
            </a:pPr>
            <a:r>
              <a:rPr b="1" i="0" lang="da" sz="1200" u="none" cap="none" strike="noStrike">
                <a:solidFill>
                  <a:srgbClr val="0A9396"/>
                </a:solidFill>
                <a:latin typeface="Calibri"/>
                <a:ea typeface="Calibri"/>
                <a:cs typeface="Calibri"/>
                <a:sym typeface="Calibri"/>
              </a:rPr>
              <a:t>Håkon · Leo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3"/>
          <p:cNvSpPr/>
          <p:nvPr/>
        </p:nvSpPr>
        <p:spPr>
          <a:xfrm>
            <a:off x="365760" y="914400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800"/>
              <a:buFont typeface="Calibri"/>
              <a:buNone/>
            </a:pPr>
            <a:r>
              <a:rPr b="1" i="0" lang="da" sz="28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Reflection: Evolution &amp; Refactoring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3"/>
          <p:cNvSpPr/>
          <p:nvPr/>
        </p:nvSpPr>
        <p:spPr>
          <a:xfrm>
            <a:off x="365760" y="1737360"/>
            <a:ext cx="8412480" cy="30175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3"/>
          <p:cNvSpPr/>
          <p:nvPr/>
        </p:nvSpPr>
        <p:spPr>
          <a:xfrm>
            <a:off x="365760" y="1737360"/>
            <a:ext cx="841248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4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A9396"/>
          </a:solidFill>
          <a:ln cap="flat" cmpd="sng" w="12700">
            <a:solidFill>
              <a:srgbClr val="0A93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4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4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9396"/>
              </a:buClr>
              <a:buSzPts val="1200"/>
              <a:buFont typeface="Calibri"/>
              <a:buNone/>
            </a:pPr>
            <a:r>
              <a:rPr b="1" i="0" lang="da" sz="1200" u="none" cap="none" strike="noStrike">
                <a:solidFill>
                  <a:srgbClr val="0A9396"/>
                </a:solidFill>
                <a:latin typeface="Calibri"/>
                <a:ea typeface="Calibri"/>
                <a:cs typeface="Calibri"/>
                <a:sym typeface="Calibri"/>
              </a:rPr>
              <a:t>Leo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4"/>
          <p:cNvSpPr/>
          <p:nvPr/>
        </p:nvSpPr>
        <p:spPr>
          <a:xfrm>
            <a:off x="365760" y="914400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800"/>
              <a:buFont typeface="Calibri"/>
              <a:buNone/>
            </a:pPr>
            <a:r>
              <a:rPr b="1" i="0" lang="da" sz="28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Reflection: DevOps Style (Three Ways)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4"/>
          <p:cNvSpPr/>
          <p:nvPr/>
        </p:nvSpPr>
        <p:spPr>
          <a:xfrm>
            <a:off x="365760" y="1737360"/>
            <a:ext cx="8412480" cy="30175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4"/>
          <p:cNvSpPr/>
          <p:nvPr/>
        </p:nvSpPr>
        <p:spPr>
          <a:xfrm>
            <a:off x="365760" y="1737360"/>
            <a:ext cx="841248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5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A9396"/>
          </a:solidFill>
          <a:ln cap="flat" cmpd="sng" w="12700">
            <a:solidFill>
              <a:srgbClr val="0A93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5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5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9396"/>
              </a:buClr>
              <a:buSzPts val="1200"/>
              <a:buFont typeface="Calibri"/>
              <a:buNone/>
            </a:pPr>
            <a:r>
              <a:rPr b="1" i="0" lang="da" sz="1200" u="none" cap="none" strike="noStrike">
                <a:solidFill>
                  <a:srgbClr val="0A9396"/>
                </a:solidFill>
                <a:latin typeface="Calibri"/>
                <a:ea typeface="Calibri"/>
                <a:cs typeface="Calibri"/>
                <a:sym typeface="Calibri"/>
              </a:rPr>
              <a:t>Leo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5"/>
          <p:cNvSpPr/>
          <p:nvPr/>
        </p:nvSpPr>
        <p:spPr>
          <a:xfrm>
            <a:off x="365760" y="914400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800"/>
              <a:buFont typeface="Calibri"/>
              <a:buNone/>
            </a:pPr>
            <a:r>
              <a:rPr b="1" i="0" lang="da" sz="28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Reflection: AI Use &amp; Maintenance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5"/>
          <p:cNvSpPr/>
          <p:nvPr/>
        </p:nvSpPr>
        <p:spPr>
          <a:xfrm>
            <a:off x="365760" y="1737360"/>
            <a:ext cx="8412480" cy="30175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5"/>
          <p:cNvSpPr/>
          <p:nvPr/>
        </p:nvSpPr>
        <p:spPr>
          <a:xfrm>
            <a:off x="365760" y="1737360"/>
            <a:ext cx="841248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